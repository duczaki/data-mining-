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thầy cô và các bạn. Đồ án gồm hai bài toán: phân cụm người chơi theo phong cách thi đấu và khai phá các tổ hợp Agent theo bản đồ. Điểm mình muốn nhấn mạnh là kết quả không dừng ở mô tả: có kiểm định thống kê, hiệu chỉnh đa so sánh và toàn bộ pipeline có thể chạy lại bằng make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câu hỏi tương ứng hai bài toán. Bài toán 1 là phân cụm người chơi; bài toán 2 là luật kết hợp Agent theo map. Câu hỏi 3 là phần kiểm định hiệu quả đội hình. Phạm vi gồm 14.005 ván sạch, 7 map, 28.010 đội hình và 2.599 người chơi đủ điều kiện.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quan trọng là không fillna(0) cho ACS/ADR/HS. Mỗi chỉ số chỉ tính trên các ván có giá trị, theo trọng số round. Người chơi có độ phủ dưới 80% bị loại, còn 126 người. KAST thiếu gần như toàn bộ nên bị loại khỏi mô hình.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gồm 6 bước. Bước 3 và 4 là phần khai phá chính. Toàn bộ chạy bằng make all, khoảng 1-2 phút. Các bước report và validate sinh báo cáo cùng 19 kiểm tra bất biến.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biến combat tương quan rất mạnh, ví dụ Kills/R với ACS là 0,97. Nếu đưa thẳng vào K-Means, mô hình sẽ đếm hiệu quả combat nhiều lần. PCA giữ 82,1% phương sai với 3 thành phần. Bảng độ nhạy cho thấy PCA gần với 11 biến gốc nhưng bộ 7 biến rút gọn thay đổi nhiều, nên kết quả không phải duy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Silhouette cao nhất ở k=2 là 0,358. Trong khoảng 3-5, k=3 có silhouette 0,278. Nhóm chọn k=3 vì mục tiêu của đề tài là 3-5 cụm và ba chân dung diễn giải được. Bootstrap ARI 0,954 nhưng Ward ARI chỉ 0,354, nên không nên nói cụm rất ổn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cụm có kích thước 760, 849 và 990 người. C0 mạnh về first kill, ACS, kill và multi-kill nhưng assists thấp. C1 thấp toàn diện và chết nhiều. C2 ít chết, assists và K/D cao. C0 dùng Duelist 69% số ván, nên phải nói rõ cụm phản ánh cả role, không chỉ phong cách.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Cần tách hai loại độ tin cậy. Bootstrap ARI 0,954 cho thấy cụm ổn định khi lấy mẫu lại. Nhưng Ward ARI 0,354 và ARI 0,473 khi dùng 7 biến cho thấy kết quả phụ thuộc thuật toán và tập biến. Vì vậy chỉ nên xem đây là mô tả khám phá.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Luật kết hợp chạy riêng từng map. Mỗi đội là một giỏ 5 Agent. FP-Growth tìm itemset, sau đó sinh luật với confidence và lift. Có 580 luật. Cần nhấn mạnh support/confidence/lift chỉ đo đồng xuất 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Heatmap cho thấy meta rất khác nhau theo map. Ascent gần như luôn có Sova và Jett; Icebox gần như cố định Sova, Jett, Sage, Viper. Đây là tỷ lệ chọn, chưa nói gì về thắng thua.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ví dụ dễ thấy nhất trên Icebox. Hai đội hình chỉ khác Reyna và Killjoy. Killjoy đạt 55,9%, Reyna 46,5%, chênh 9,4 điểm. Nhưng chỉ Killjoy còn q=0,024 sau FDR; Reyna q=0,510. Vẫn là quan hệ quan sát, không phải nhân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 473 đội hình đủ mẫu, 26 có p nhỏ hơn 0,05 nhưng chỉ 3 còn q nhỏ hơn 0,05 sau BH. Với luật, 17/580 còn significant. Con số 17 không phải 17 phát hiện độc lập vì các luật trùng antecedent. Thông điệp: đa số khác biệt win rate không bền.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Tóm lại bốn câu trả lời. Có ba nhóm người chơi nhưng tách cụm chỉ ở mức trung bình. Meta Agent rất rõ theo map. Tổ hợp phổ biến không chứng minh hiệu quả: chỉ 3/473 đội hình còn khác biệt sau FDR. Kết quả thay đổi theo map và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giới hạn chính: dữ liệu cũ, KAST thiếu, mất 126 người chơi vì coverage, map nhỏ, và chưa có hold-out. Hướng phát triển là hold-out, mô hình có kiểm soát đội, phân cụm theo role và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 thầy cô và các bạn. Mời đặt câu hỏi. Repo và lệnh tái lập nằm ở đây.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502920" cy="50292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4655"/>
                </a:solidFill>
                <a:latin typeface="Arial"/>
              </a:defRPr>
            </a:pPr>
            <a:r>
              <a:t>ĐỒ ÁN KHAI PHÁ DỮ LIỆU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795527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Phân cụm người chơi Valorant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và khai phá tổ hợp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24612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BEC4CD"/>
                </a:solidFill>
                <a:latin typeface="Arial"/>
              </a:defRPr>
            </a:pPr>
            <a:r>
              <a:t>Từ 14.005 ván đấu chuyên nghiệp đến các kết luận có kiểm định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58978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BEC4CD"/>
                </a:solidFill>
                <a:latin typeface="Arial"/>
              </a:defRPr>
            </a:pPr>
            <a:r>
              <a:t>Sinh viên thực hiện: ........................................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619963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BEC4CD"/>
                </a:solidFill>
                <a:latin typeface="Arial"/>
              </a:defRPr>
            </a:pPr>
            <a:r>
              <a:t>GVHD: ........................................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417320"/>
            <a:ext cx="2971800" cy="1170432"/>
          </a:xfrm>
          <a:prstGeom prst="roundRect">
            <a:avLst>
              <a:gd name="adj" fmla="val 8000"/>
            </a:avLst>
          </a:prstGeom>
          <a:solidFill>
            <a:srgbClr val="1C2534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536192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4655"/>
                </a:solidFill>
                <a:latin typeface="Arial"/>
              </a:defRPr>
            </a:pPr>
            <a:r>
              <a:t>14.005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02996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BEC4CD"/>
                </a:solidFill>
                <a:latin typeface="Arial"/>
              </a:defRPr>
            </a:pPr>
            <a:r>
              <a:t>ván sạch / 15.888 ván gốc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724912"/>
            <a:ext cx="2971800" cy="1170432"/>
          </a:xfrm>
          <a:prstGeom prst="roundRect">
            <a:avLst>
              <a:gd name="adj" fmla="val 8000"/>
            </a:avLst>
          </a:prstGeom>
          <a:solidFill>
            <a:srgbClr val="1C2534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843784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FFFFFF"/>
                </a:solidFill>
                <a:latin typeface="Arial"/>
              </a:defRPr>
            </a:pPr>
            <a:r>
              <a:t>2.599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33756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BEC4CD"/>
                </a:solidFill>
                <a:latin typeface="Arial"/>
              </a:defRPr>
            </a:pPr>
            <a:r>
              <a:t>người chơi đủ điều kiện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032504"/>
            <a:ext cx="2971800" cy="1170432"/>
          </a:xfrm>
          <a:prstGeom prst="roundRect">
            <a:avLst>
              <a:gd name="adj" fmla="val 8000"/>
            </a:avLst>
          </a:prstGeom>
          <a:solidFill>
            <a:srgbClr val="1C2534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4151376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5EEAD4"/>
                </a:solidFill>
                <a:latin typeface="Arial"/>
              </a:defRPr>
            </a:pPr>
            <a:r>
              <a:t>580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64515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BEC4CD"/>
                </a:solidFill>
                <a:latin typeface="Arial"/>
              </a:defRPr>
            </a:pPr>
            <a:r>
              <a:t>luật kết hợp trên 7 bản đồ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7492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94A3B8"/>
                </a:solidFill>
                <a:latin typeface="Arial"/>
              </a:defRPr>
            </a:pPr>
            <a:r>
              <a:t>K-Means / PCA  ·  FP-Growth  ·  Fisher exact + Benjamini–Hochberg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01 ·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Bốn câu hỏi, hai bài toán khai phá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Từ hành vi cá nhân đến cấu trúc đội hình trong dữ liệu thi đấu chuyên nghiệp.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5257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465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63677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rial"/>
              </a:defRPr>
            </a:pPr>
            <a:r>
              <a:t>Có những nhóm người chơi nào?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02996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B6470"/>
                </a:solidFill>
                <a:latin typeface="Arial"/>
              </a:defRPr>
            </a:pPr>
            <a:r>
              <a:t>Dựa trên hạ gục, hỗ trợ, mở giao tranh và độ ổn định.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481328"/>
            <a:ext cx="5257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645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465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163677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rial"/>
              </a:defRPr>
            </a:pPr>
            <a:r>
              <a:t>Agent nào thường đi cùng nhau?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02996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B6470"/>
                </a:solidFill>
                <a:latin typeface="Arial"/>
              </a:defRPr>
            </a:pPr>
            <a:r>
              <a:t>Đồng xuất hiện theo từng bản đồ, không gộp toàn bộ meta.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27248"/>
            <a:ext cx="5257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465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28269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rial"/>
              </a:defRPr>
            </a:pPr>
            <a:r>
              <a:t>Tổ hợp phổ biến có thắng nhiều hơn?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675887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B6470"/>
                </a:solidFill>
                <a:latin typeface="Arial"/>
              </a:defRPr>
            </a:pPr>
            <a:r>
              <a:t>So sánh win rate với phần còn lại của cùng map.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127248"/>
            <a:ext cx="5257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465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28269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rial"/>
              </a:defRPr>
            </a:pPr>
            <a:r>
              <a:t>Kết quả khác nhau theo map/patch?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675887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B6470"/>
                </a:solidFill>
                <a:latin typeface="Arial"/>
              </a:defRPr>
            </a:pPr>
            <a:r>
              <a:t>Kiểm tra tính ổn định của meta theo thời gian.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19472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9320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94A3B8"/>
                </a:solidFill>
                <a:latin typeface="Arial"/>
              </a:defRPr>
            </a:pPr>
            <a:r>
              <a:t>Phạm 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06577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FFFFFF"/>
                </a:solidFill>
                <a:latin typeface="Arial"/>
              </a:defRPr>
            </a:pPr>
            <a:r>
              <a:t>14.005 ván  ·  7 bản đồ  ·  28.010 đội hình  ·  2.599 người chơi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B6470"/>
                </a:solidFill>
                <a:latin typeface="Arial"/>
              </a:defRPr>
            </a:pPr>
            <a:r>
              <a:t>Không dừng ở mô tả: kiểm định Fisher, hiệu chỉnh FDR và pipeline tái lập bằng một lệnh.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02 ·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Làm sạch để mỗi dòng đều dùng được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Mỗi đội phải đủ 5 người, 5 Agent khác nhau và mỗi ván phải có đúng 2 đội.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54864" cy="1078992"/>
          </a:xfrm>
          <a:prstGeom prst="rect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5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5B6470"/>
                </a:solidFill>
                <a:latin typeface="Arial"/>
              </a:defRPr>
            </a:pPr>
            <a:r>
              <a:t>15.888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21408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ván gốc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72768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572768"/>
            <a:ext cx="54864" cy="1078992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682495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FF4655"/>
                </a:solidFill>
                <a:latin typeface="Arial"/>
              </a:defRPr>
            </a:pPr>
            <a:r>
              <a:t>14.005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121408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ván sạch (88,1%)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34639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34639"/>
            <a:ext cx="54864" cy="10789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944368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0F766E"/>
                </a:solidFill>
                <a:latin typeface="Arial"/>
              </a:defRPr>
            </a:pPr>
            <a:r>
              <a:t>28.010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83279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đội hình 5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834639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2834639"/>
            <a:ext cx="54864" cy="10789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2944368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D97706"/>
                </a:solidFill>
                <a:latin typeface="Arial"/>
              </a:defRPr>
            </a:pPr>
            <a:r>
              <a:t>27.382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383279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đội hình có nhãn thắng/thua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148132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4655"/>
                </a:solidFill>
                <a:latin typeface="Arial"/>
              </a:defRPr>
            </a:pPr>
            <a:r>
              <a:t>Ba quyết định làm sạch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874519"/>
            <a:ext cx="5486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rgbClr val="FF4655"/>
                </a:solidFill>
                <a:latin typeface="Arial"/>
              </a:rPr>
              <a:t>•  </a:t>
            </a:r>
            <a:r>
              <a:rPr sz="1250">
                <a:solidFill>
                  <a:srgbClr val="111827"/>
                </a:solidFill>
                <a:latin typeface="Arial"/>
              </a:rPr>
              <a:t>Mỗi đội đúng 5 người và 5 Agent khác nhau; mỗi ván đúng 2 đội.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rgbClr val="FF4655"/>
                </a:solidFill>
                <a:latin typeface="Arial"/>
              </a:rPr>
              <a:t>•  </a:t>
            </a:r>
            <a:r>
              <a:rPr sz="1250">
                <a:solidFill>
                  <a:srgbClr val="111827"/>
                </a:solidFill>
                <a:latin typeface="Arial"/>
              </a:rPr>
              <a:t>Chỉ giữ ván 13–40 round; loại 4 ván 42 round.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rgbClr val="FF4655"/>
                </a:solidFill>
                <a:latin typeface="Arial"/>
              </a:rPr>
              <a:t>•  </a:t>
            </a:r>
            <a:r>
              <a:rPr sz="1250">
                <a:solidFill>
                  <a:srgbClr val="111827"/>
                </a:solidFill>
                <a:latin typeface="Arial"/>
              </a:rPr>
              <a:t>KAST thiếu 97,9% nên loại khỏi mô hình, không fill bằng 0.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rgbClr val="FF4655"/>
                </a:solidFill>
                <a:latin typeface="Arial"/>
              </a:rPr>
              <a:t>•  </a:t>
            </a:r>
            <a:r>
              <a:rPr sz="1250">
                <a:solidFill>
                  <a:srgbClr val="111827"/>
                </a:solidFill>
                <a:latin typeface="Arial"/>
              </a:rPr>
              <a:t>ACS/ADR/HS% lấy trung bình theo round; loại người chơi có độ phủ &lt;80%.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4892040"/>
            <a:ext cx="5532120" cy="868680"/>
          </a:xfrm>
          <a:prstGeom prst="roundRect">
            <a:avLst>
              <a:gd name="adj" fmla="val 8000"/>
            </a:avLst>
          </a:prstGeom>
          <a:solidFill>
            <a:srgbClr val="FFE8EA"/>
          </a:solidFill>
          <a:ln w="9525">
            <a:solidFill>
              <a:srgbClr val="FF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502920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BE1E2D"/>
                </a:solidFill>
                <a:latin typeface="Arial"/>
              </a:defRPr>
            </a:pPr>
            <a:r>
              <a:t>126 người chơi bị loại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53218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111827"/>
                </a:solidFill>
                <a:latin typeface="Arial"/>
              </a:defRPr>
            </a:pPr>
            <a:r>
              <a:t>vì độ phủ ADR/HS dưới 80% — không thể tính trung bình đáng tin cậy.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5B6470"/>
                </a:solidFill>
                <a:latin typeface="Arial"/>
              </a:defRPr>
            </a:pPr>
            <a:r>
              <a:t>14.005 / 15.888 = 88,1% ván giữ lại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03 ·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Pipeline tái lập từ dữ liệu gốc đến kết quả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Tất cả bước nằm trong một Makefile; kết quả cố định bằng random_state.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627632"/>
            <a:ext cx="1609344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190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465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01952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11827"/>
                </a:solidFill>
                <a:latin typeface="Arial"/>
              </a:defRPr>
            </a:pPr>
            <a: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12848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830" b="0">
                <a:solidFill>
                  <a:srgbClr val="5B6470"/>
                </a:solidFill>
                <a:latin typeface="Arial"/>
              </a:defRPr>
            </a:pPr>
            <a:r>
              <a:t>4 bảng gốc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9132" y="2029968"/>
            <a:ext cx="91440" cy="201168"/>
          </a:xfrm>
          <a:prstGeom prst="rightArrow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13432" y="1627632"/>
            <a:ext cx="1609344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17190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465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1901952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11827"/>
                </a:solidFill>
                <a:latin typeface="Arial"/>
              </a:defRPr>
            </a:pPr>
            <a:r>
              <a:t>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2212848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830" b="0">
                <a:solidFill>
                  <a:srgbClr val="5B6470"/>
                </a:solidFill>
                <a:latin typeface="Arial"/>
              </a:defRPr>
            </a:pPr>
            <a:r>
              <a:t>kiểm tra dữ liệu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36491" y="2029968"/>
            <a:ext cx="91440" cy="201168"/>
          </a:xfrm>
          <a:prstGeom prst="rightArrow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50791" y="1627632"/>
            <a:ext cx="1609344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8807" y="17190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465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7" y="1901952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11827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7" y="2212848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830" b="0">
                <a:solidFill>
                  <a:srgbClr val="5B6470"/>
                </a:solidFill>
                <a:latin typeface="Arial"/>
              </a:defRPr>
            </a:pPr>
            <a:r>
              <a:t>làm sạch, đội hình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73851" y="2029968"/>
            <a:ext cx="91440" cy="201168"/>
          </a:xfrm>
          <a:prstGeom prst="rightArrow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88151" y="1627632"/>
            <a:ext cx="1609344" cy="1024128"/>
          </a:xfrm>
          <a:prstGeom prst="roundRect">
            <a:avLst>
              <a:gd name="adj" fmla="val 8000"/>
            </a:avLst>
          </a:prstGeom>
          <a:solidFill>
            <a:srgbClr val="FF4655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6167" y="17190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7" y="1901952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FFFFFF"/>
                </a:solidFill>
                <a:latin typeface="Arial"/>
              </a:defRPr>
            </a:pPr>
            <a:r>
              <a:t>Mine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6167" y="2212848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830" b="0">
                <a:solidFill>
                  <a:srgbClr val="E6E8EC"/>
                </a:solidFill>
                <a:latin typeface="Arial"/>
              </a:defRPr>
            </a:pPr>
            <a:r>
              <a:t>PCA + K-Means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defRPr sz="830" b="0">
                <a:solidFill>
                  <a:srgbClr val="E6E8EC"/>
                </a:solidFill>
                <a:latin typeface="Arial"/>
              </a:defRPr>
            </a:pPr>
            <a:r>
              <a:t>FP-Growth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411212" y="2029968"/>
            <a:ext cx="91440" cy="201168"/>
          </a:xfrm>
          <a:prstGeom prst="rightArrow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25512" y="1627632"/>
            <a:ext cx="1609344" cy="1024128"/>
          </a:xfrm>
          <a:prstGeom prst="roundRect">
            <a:avLst>
              <a:gd name="adj" fmla="val 8000"/>
            </a:avLst>
          </a:prstGeom>
          <a:solidFill>
            <a:srgbClr val="FF4655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53528" y="17190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528" y="1901952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FFFFFF"/>
                </a:solidFill>
                <a:latin typeface="Arial"/>
              </a:defRPr>
            </a:pPr>
            <a: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8" y="2212848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830" b="0">
                <a:solidFill>
                  <a:srgbClr val="E6E8EC"/>
                </a:solidFill>
                <a:latin typeface="Arial"/>
              </a:defRPr>
            </a:pPr>
            <a:r>
              <a:t>bảng + hình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148572" y="2029968"/>
            <a:ext cx="91440" cy="201168"/>
          </a:xfrm>
          <a:prstGeom prst="rightArrow">
            <a:avLst/>
          </a:prstGeom>
          <a:solidFill>
            <a:srgbClr val="C9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62872" y="1627632"/>
            <a:ext cx="1609344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8" y="17190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>
                <a:solidFill>
                  <a:srgbClr val="FF4655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1901952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11827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2212848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830" b="0">
                <a:solidFill>
                  <a:srgbClr val="5B6470"/>
                </a:solidFill>
                <a:latin typeface="Arial"/>
              </a:defRPr>
            </a:pPr>
            <a:r>
              <a:t>19 kiểm 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2999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Consolas"/>
              </a:defRPr>
            </a:pPr>
            <a:r>
              <a:t>make 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30540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B6470"/>
                </a:solidFill>
                <a:latin typeface="Arial"/>
              </a:defRPr>
            </a:pPr>
            <a:r>
              <a:t>≈ 1–2 phút  ·  tự sinh bảng, hình và báo cáo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" y="5321808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545896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FF4655"/>
                </a:solidFill>
                <a:latin typeface="Arial"/>
              </a:defRPr>
            </a:pPr>
            <a:r>
              <a:t>ĐIỂM KIỂM SOÁT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7712" y="5440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11827"/>
                </a:solidFill>
                <a:latin typeface="Arial"/>
              </a:defRPr>
            </a:pPr>
            <a:r>
              <a:t>19/19 kiểm tra đạt  ·  0 lỗi  ·  nhãn thắng khớp Games.Winner cho 27.382 đội hình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" y="38862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" y="402336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FF4655"/>
                </a:solidFill>
                <a:latin typeface="Arial"/>
              </a:defRPr>
            </a:pPr>
            <a:r>
              <a:t>DỮ LIỆU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" y="4297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11827"/>
                </a:solidFill>
                <a:latin typeface="Arial"/>
              </a:defRPr>
            </a:pPr>
            <a:r>
              <a:t>SQLite  ·  pandas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" y="46451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Đọc, làm sạch, tổng hợp theo round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06824" y="38862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1416" y="402336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FF4655"/>
                </a:solidFill>
                <a:latin typeface="Arial"/>
              </a:defRPr>
            </a:pPr>
            <a:r>
              <a:t>MÔ HÌNH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71416" y="4297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11827"/>
                </a:solidFill>
                <a:latin typeface="Arial"/>
              </a:defRPr>
            </a:pPr>
            <a:r>
              <a:t>scikit-learn  ·  mlxtend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1416" y="46451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PCA, K-Means, Ward, FP-Growth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37576" y="38862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02168" y="402336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FF4655"/>
                </a:solidFill>
                <a:latin typeface="Arial"/>
              </a:defRPr>
            </a:pPr>
            <a:r>
              <a:t>KIỂM ĐỊNH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02168" y="4297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11827"/>
                </a:solidFill>
                <a:latin typeface="Arial"/>
              </a:defRPr>
            </a:pPr>
            <a:r>
              <a:t>scipy  ·  BH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02168" y="46451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Wilson CI, Fisher exact, FDR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04 · PHÂN CỤM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Đa cộng tuyến: PCA trước K-Means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Các chỉ số combat chồng lấn rất mạnh; PCA giảm việc đếm lặp “hiệu quả combat”.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8" name="Picture 7" descr="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5394960" cy="32478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2578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4655"/>
                </a:solidFill>
                <a:latin typeface="Arial"/>
              </a:defRPr>
            </a:pPr>
            <a:r>
              <a:t>Tương quan |r| ≥ 0,70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504688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5B6470"/>
                </a:solidFill>
                <a:latin typeface="Arial"/>
              </a:defRPr>
            </a:pPr>
            <a:r>
              <a:t>Kills, ACS, ADR, multi-kill và K/D gần như cùng một khối thông tin.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81328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9525">
            <a:solidFill>
              <a:srgbClr val="BE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1848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F766E"/>
                </a:solidFill>
                <a:latin typeface="Arial"/>
              </a:defRPr>
            </a:pPr>
            <a:r>
              <a:t>PCA giữ 82.1% phương sai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751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11827"/>
                </a:solidFill>
                <a:latin typeface="Arial"/>
              </a:defRPr>
            </a:pPr>
            <a:r>
              <a:t>3 thành phần thay cho 11 biến; chân dung cụm vẫn mô tả bằng biến gốc.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7614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11827"/>
                </a:solidFill>
                <a:latin typeface="Arial"/>
              </a:defRPr>
            </a:pPr>
            <a:r>
              <a:t>Độ nhạy của kết quả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72200" y="3090672"/>
          <a:ext cx="5349240" cy="1417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731520"/>
                <a:gridCol w="1143000"/>
                <a:gridCol w="1143000"/>
              </a:tblGrid>
              <a:tr h="3543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Phương pháp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Chiều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Silhouette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PCA 0.8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0.278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1.000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11 biến gốc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0.207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0.968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7 biến rút gọn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0.191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0.473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172200" y="4736592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B6470"/>
                </a:solidFill>
                <a:latin typeface="Arial"/>
              </a:defRPr>
            </a:pPr>
            <a:r>
              <a:t>PCA gần với 11 biến gốc (ARI 0,968), nhưng 7 biến rút gọn đổi cụm nhiều (ARI 0,473).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5394960"/>
            <a:ext cx="5349240" cy="36576"/>
          </a:xfrm>
          <a:prstGeom prst="rect">
            <a:avLst/>
          </a:prstGeom>
          <a:solidFill>
            <a:srgbClr val="DB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513832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BE1E2D"/>
                </a:solidFill>
                <a:latin typeface="Arial"/>
              </a:defRPr>
            </a:pPr>
            <a:r>
              <a:t>Kết quả không phải cấu trúc duy nhất → trình bày như mô tả khám phá.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05 · PHÂN CỤM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Vì sao chọn k = 3?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Silhouette cao nhất ở k = 2, nhưng k = 3 nằm trong khung 3–5 cụm và dễ diễn giải.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8" name="Picture 7" descr="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5760720" cy="37902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150876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508760"/>
            <a:ext cx="54864" cy="960120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61848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FF4655"/>
                </a:solidFill>
                <a:latin typeface="Arial"/>
              </a:defRPr>
            </a:pPr>
            <a:r>
              <a:t>0.278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0574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silhouette tại k 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508760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9720" y="1508760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61848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D97706"/>
                </a:solidFill>
                <a:latin typeface="Arial"/>
              </a:defRPr>
            </a:pPr>
            <a:r>
              <a:t>0.358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20574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silhouette cao nhất (k = 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633472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2633472"/>
            <a:ext cx="54864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743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0F766E"/>
                </a:solidFill>
                <a:latin typeface="Arial"/>
              </a:defRPr>
            </a:pPr>
            <a:r>
              <a:t>0.954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18211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bootstrap ARI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633472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2633472"/>
            <a:ext cx="54864" cy="960120"/>
          </a:xfrm>
          <a:prstGeom prst="rect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27432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5B6470"/>
                </a:solidFill>
                <a:latin typeface="Arial"/>
              </a:defRPr>
            </a:pPr>
            <a:r>
              <a:t>0.354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31821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Ward 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82219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11827"/>
                </a:solidFill>
                <a:latin typeface="Arial"/>
              </a:defRPr>
            </a:pPr>
            <a:r>
              <a:t>Cách đọc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14800"/>
            <a:ext cx="50749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FF4655"/>
                </a:solidFill>
                <a:latin typeface="Arial"/>
              </a:rPr>
              <a:t>•  </a:t>
            </a:r>
            <a:r>
              <a:rPr sz="1050">
                <a:solidFill>
                  <a:srgbClr val="111827"/>
                </a:solidFill>
                <a:latin typeface="Arial"/>
              </a:rPr>
              <a:t>k = 3 tách được ba kiểu hồ sơ khác nhau, không chỉ hai nhóm quá rộng.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FF4655"/>
                </a:solidFill>
                <a:latin typeface="Arial"/>
              </a:rPr>
              <a:t>•  </a:t>
            </a:r>
            <a:r>
              <a:rPr sz="1050">
                <a:solidFill>
                  <a:srgbClr val="111827"/>
                </a:solidFill>
                <a:latin typeface="Arial"/>
              </a:rPr>
              <a:t>Silhouette 0.278 là mức trung bình — không phải tách cụm mạnh.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FF4655"/>
                </a:solidFill>
                <a:latin typeface="Arial"/>
              </a:rPr>
              <a:t>•  </a:t>
            </a:r>
            <a:r>
              <a:rPr sz="1050">
                <a:solidFill>
                  <a:srgbClr val="111827"/>
                </a:solidFill>
                <a:latin typeface="Arial"/>
              </a:rPr>
              <a:t>Bootstrap ổn định (0.954), nhưng Ward chỉ đồng thuận một phần (0.354).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5623560"/>
            <a:ext cx="5074920" cy="502920"/>
          </a:xfrm>
          <a:prstGeom prst="roundRect">
            <a:avLst>
              <a:gd name="adj" fmla="val 8000"/>
            </a:avLst>
          </a:prstGeom>
          <a:solidFill>
            <a:srgbClr val="FFE8EA"/>
          </a:solidFill>
          <a:ln w="9525">
            <a:solidFill>
              <a:srgbClr val="FF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57332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BE1E2D"/>
                </a:solidFill>
                <a:latin typeface="Arial"/>
              </a:defRPr>
            </a:pPr>
            <a:r>
              <a:t>Đây là lựa chọn khám phá có chủ đích, không phải k tối ưu tuyệt đối.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06 · PHÂN CỤM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Ba chân dung người chơi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Tên cụm là mô tả theo z-score, không phải vai trò chính thức trong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64208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E8EA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7393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4655"/>
                </a:solidFill>
                <a:latin typeface="Arial"/>
              </a:defRPr>
            </a:pPr>
            <a:r>
              <a:t>C0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55648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11827"/>
                </a:solidFill>
                <a:latin typeface="Arial"/>
              </a:defRPr>
            </a:pPr>
            <a:r>
              <a:t>Mở giao tranh · Sát thương 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2199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760 người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2199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Win 48.6%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78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19" b="0">
                <a:solidFill>
                  <a:srgbClr val="111827"/>
                </a:solidFill>
                <a:latin typeface="Arial"/>
              </a:defRPr>
            </a:pPr>
            <a:r>
              <a:t>ACS 228  ·  FK/R 0.146  ·  K/D 1.09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664208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77393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5B6470"/>
                </a:solidFill>
                <a:latin typeface="Arial"/>
              </a:defRPr>
            </a:pPr>
            <a: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1755648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11827"/>
                </a:solidFill>
                <a:latin typeface="Arial"/>
              </a:defRPr>
            </a:pPr>
            <a:r>
              <a:t>Chết nhiều · Hiệu quả thấp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222199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849 người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22199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1">
                <a:solidFill>
                  <a:srgbClr val="5B6470"/>
                </a:solidFill>
                <a:latin typeface="Arial"/>
              </a:defRPr>
            </a:pPr>
            <a:r>
              <a:t>Win 37.6%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2578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19" b="0">
                <a:solidFill>
                  <a:srgbClr val="111827"/>
                </a:solidFill>
                <a:latin typeface="Arial"/>
              </a:defRPr>
            </a:pPr>
            <a:r>
              <a:t>ACS 176  ·  Deaths/R 0.736  ·  K/D 0.82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664208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77393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F766E"/>
                </a:solidFill>
                <a:latin typeface="Arial"/>
              </a:defRPr>
            </a:pPr>
            <a:r>
              <a:t>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1755648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11827"/>
                </a:solidFill>
                <a:latin typeface="Arial"/>
              </a:defRPr>
            </a:pPr>
            <a:r>
              <a:t>Ít chết · Hiệu quả 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22199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990 người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1863" y="222199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1">
                <a:solidFill>
                  <a:srgbClr val="0F766E"/>
                </a:solidFill>
                <a:latin typeface="Arial"/>
              </a:defRPr>
            </a:pPr>
            <a:r>
              <a:t>Win 52.6%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78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19" b="0">
                <a:solidFill>
                  <a:srgbClr val="111827"/>
                </a:solidFill>
                <a:latin typeface="Arial"/>
              </a:defRPr>
            </a:pPr>
            <a:r>
              <a:t>Assists/R 0.278  ·  K/D 1.03  ·  Deaths/R 0.683</a:t>
            </a:r>
          </a:p>
        </p:txBody>
      </p:sp>
      <p:pic>
        <p:nvPicPr>
          <p:cNvPr id="26" name="Picture 25" descr="clust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56432"/>
            <a:ext cx="7498079" cy="317680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229600" y="3520440"/>
            <a:ext cx="3401568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6576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4655"/>
                </a:solidFill>
                <a:latin typeface="Arial"/>
              </a:defRPr>
            </a:pPr>
            <a:r>
              <a:t>Cảnh báo diễn giải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05072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 sz="960" b="0">
                <a:solidFill>
                  <a:srgbClr val="111827"/>
                </a:solidFill>
                <a:latin typeface="Arial"/>
              </a:defRPr>
            </a:pPr>
            <a:r>
              <a:t>C0 dùng Duelist ở 69% số ván.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960" b="0">
                <a:solidFill>
                  <a:srgbClr val="111827"/>
                </a:solidFill>
                <a:latin typeface="Arial"/>
              </a:defRPr>
            </a:pPr>
            <a:r>
              <a:t>Cụm phản ánh cả vai trò Agent lẫn phong cách.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960" b="0">
                <a:solidFill>
                  <a:srgbClr val="111827"/>
                </a:solidFill>
                <a:latin typeface="Arial"/>
              </a:defRPr>
            </a:pPr>
            <a:r>
              <a:t>Không nên gọi C0 là “Duelist” hay C2 là “IGL”.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07 · PHÂN CỤM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Cụm có đáng tin không?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Ổn định khi lấy mẫu lại, nhưng không ổn định hoàn toàn khi đổi thuật toán hoặc tập biến.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26060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54864" cy="111556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9105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FF4655"/>
                </a:solidFill>
                <a:latin typeface="Arial"/>
              </a:defRPr>
            </a:pPr>
            <a:r>
              <a:t>0.278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2996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Silhouette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4086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80" b="0">
                <a:solidFill>
                  <a:srgbClr val="5B6470"/>
                </a:solidFill>
                <a:latin typeface="Arial"/>
              </a:defRPr>
            </a:pPr>
            <a:r>
              <a:t>tách cụm trung bình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481328"/>
            <a:ext cx="26060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481328"/>
            <a:ext cx="54864" cy="11155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159105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0F766E"/>
                </a:solidFill>
                <a:latin typeface="Arial"/>
              </a:defRPr>
            </a:pPr>
            <a:r>
              <a:t>0.954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02996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Bootstrap 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34086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80" b="0">
                <a:solidFill>
                  <a:srgbClr val="5B6470"/>
                </a:solidFill>
                <a:latin typeface="Arial"/>
              </a:defRPr>
            </a:pPr>
            <a:r>
              <a:t>ổn định khi lấy mẫu lại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3" y="1481328"/>
            <a:ext cx="26060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3" y="1481328"/>
            <a:ext cx="54864" cy="11155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5" y="159105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D97706"/>
                </a:solidFill>
                <a:latin typeface="Arial"/>
              </a:defRPr>
            </a:pPr>
            <a:r>
              <a:t>0.354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5" y="202996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Ward 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234086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80" b="0">
                <a:solidFill>
                  <a:srgbClr val="5B6470"/>
                </a:solidFill>
                <a:latin typeface="Arial"/>
              </a:defRPr>
            </a:pPr>
            <a:r>
              <a:t>khác thuật toán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0536" y="1481328"/>
            <a:ext cx="26060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0536" y="1481328"/>
            <a:ext cx="54864" cy="1115568"/>
          </a:xfrm>
          <a:prstGeom prst="rect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159105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5B6470"/>
                </a:solidFill>
                <a:latin typeface="Arial"/>
              </a:defRPr>
            </a:pPr>
            <a:r>
              <a:t>0.473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202996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ARI — 7 biến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234086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80" b="0">
                <a:solidFill>
                  <a:srgbClr val="5B6470"/>
                </a:solidFill>
                <a:latin typeface="Arial"/>
              </a:defRPr>
            </a:pPr>
            <a:r>
              <a:t>khác tập biến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88036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9525">
            <a:solidFill>
              <a:srgbClr val="BE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0358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F766E"/>
                </a:solidFill>
                <a:latin typeface="Arial"/>
              </a:defRPr>
            </a:pPr>
            <a:r>
              <a:t>Ổn định khi…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401568"/>
            <a:ext cx="48006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•  </a:t>
            </a:r>
            <a:r>
              <a:rPr sz="1100">
                <a:solidFill>
                  <a:srgbClr val="111827"/>
                </a:solidFill>
                <a:latin typeface="Arial"/>
              </a:rPr>
              <a:t>lấy mẫu lại 80% người chơi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•  </a:t>
            </a:r>
            <a:r>
              <a:rPr sz="1100">
                <a:solidFill>
                  <a:srgbClr val="111827"/>
                </a:solidFill>
                <a:latin typeface="Arial"/>
              </a:rPr>
              <a:t>giữ nguyên không gian PCA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•  </a:t>
            </a:r>
            <a:r>
              <a:rPr sz="1100">
                <a:solidFill>
                  <a:srgbClr val="111827"/>
                </a:solidFill>
                <a:latin typeface="Arial"/>
              </a:rPr>
              <a:t>dùng cùng K-Means và cùng 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8803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E8EA"/>
          </a:solidFill>
          <a:ln w="9525">
            <a:solidFill>
              <a:srgbClr val="FF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0358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BE1E2D"/>
                </a:solidFill>
                <a:latin typeface="Arial"/>
              </a:defRPr>
            </a:pPr>
            <a:r>
              <a:t>Không ổn định khi…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401568"/>
            <a:ext cx="48920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BE1E2D"/>
                </a:solidFill>
                <a:latin typeface="Arial"/>
              </a:rPr>
              <a:t>•  </a:t>
            </a:r>
            <a:r>
              <a:rPr sz="1100">
                <a:solidFill>
                  <a:srgbClr val="111827"/>
                </a:solidFill>
                <a:latin typeface="Arial"/>
              </a:rPr>
              <a:t>đổi sang Ward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BE1E2D"/>
                </a:solidFill>
                <a:latin typeface="Arial"/>
              </a:rPr>
              <a:t>•  </a:t>
            </a:r>
            <a:r>
              <a:rPr sz="1100">
                <a:solidFill>
                  <a:srgbClr val="111827"/>
                </a:solidFill>
                <a:latin typeface="Arial"/>
              </a:rPr>
              <a:t>bỏ bớt biến → ARI 0,473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00" b="1">
                <a:solidFill>
                  <a:srgbClr val="BE1E2D"/>
                </a:solidFill>
                <a:latin typeface="Arial"/>
              </a:rPr>
              <a:t>•  </a:t>
            </a:r>
            <a:r>
              <a:rPr sz="1100">
                <a:solidFill>
                  <a:srgbClr val="111827"/>
                </a:solidFill>
                <a:latin typeface="Arial"/>
              </a:rPr>
              <a:t>diễn giải như vai trò cố định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12080"/>
            <a:ext cx="11064240" cy="36576"/>
          </a:xfrm>
          <a:prstGeom prst="rect">
            <a:avLst/>
          </a:prstGeom>
          <a:solidFill>
            <a:srgbClr val="DB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3766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11827"/>
                </a:solidFill>
                <a:latin typeface="Arial"/>
              </a:defRPr>
            </a:pPr>
            <a:r>
              <a:t>Kết luận: ba cụm là mô tả khám phá có ích, không phải chân lý về người chơi.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08 · LUẬT KẾT HỢP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FP-Growth: tìm cấu trúc trong 28.010 đội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Mỗi đội là một giỏ 5 Agent; chạy riêng từng bản đồ để không trộn meta.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642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FF4655"/>
                </a:solidFill>
                <a:latin typeface="Arial"/>
              </a:defRPr>
            </a:pPr>
            <a:r>
              <a:t>Cách chạy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75104"/>
            <a:ext cx="5166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120" b="1">
                <a:solidFill>
                  <a:srgbClr val="FF4655"/>
                </a:solidFill>
                <a:latin typeface="Arial"/>
              </a:rPr>
              <a:t>•  </a:t>
            </a:r>
            <a:r>
              <a:rPr sz="1120">
                <a:solidFill>
                  <a:srgbClr val="111827"/>
                </a:solidFill>
                <a:latin typeface="Arial"/>
              </a:rPr>
              <a:t>Mỗi đội trong một ván = một giỏ 5 Agent, không thứ tự.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120" b="1">
                <a:solidFill>
                  <a:srgbClr val="FF4655"/>
                </a:solidFill>
                <a:latin typeface="Arial"/>
              </a:rPr>
              <a:t>•  </a:t>
            </a:r>
            <a:r>
              <a:rPr sz="1120">
                <a:solidFill>
                  <a:srgbClr val="111827"/>
                </a:solidFill>
                <a:latin typeface="Arial"/>
              </a:rPr>
              <a:t>FP-Growth, tối đa 3 Agent trong một itemset.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120" b="1">
                <a:solidFill>
                  <a:srgbClr val="FF4655"/>
                </a:solidFill>
                <a:latin typeface="Arial"/>
              </a:rPr>
              <a:t>•  </a:t>
            </a:r>
            <a:r>
              <a:rPr sz="1120">
                <a:solidFill>
                  <a:srgbClr val="111827"/>
                </a:solidFill>
                <a:latin typeface="Arial"/>
              </a:rPr>
              <a:t>Support ≥ max(12 đội, 2%) cho mỗi map.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120" b="1">
                <a:solidFill>
                  <a:srgbClr val="FF4655"/>
                </a:solidFill>
                <a:latin typeface="Arial"/>
              </a:rPr>
              <a:t>•  </a:t>
            </a:r>
            <a:r>
              <a:rPr sz="1120">
                <a:solidFill>
                  <a:srgbClr val="111827"/>
                </a:solidFill>
                <a:latin typeface="Arial"/>
              </a:rPr>
              <a:t>Confidence ≥ 0,40 và lift ≥ 1,05.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0416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000" b="1">
                <a:solidFill>
                  <a:srgbClr val="111827"/>
                </a:solidFill>
                <a:latin typeface="Arial"/>
              </a:defRPr>
            </a:pPr>
            <a:r>
              <a:t>580 luật trên 7 bản đồ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89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5B6470"/>
                </a:solidFill>
                <a:latin typeface="Arial"/>
              </a:defRPr>
            </a:pPr>
            <a:r>
              <a:t>Bảng báo cáo lọc thêm n ≥ 30 và confidence ≥ 0,5.</a:t>
            </a:r>
          </a:p>
        </p:txBody>
      </p:sp>
      <p:pic>
        <p:nvPicPr>
          <p:cNvPr id="12" name="Picture 11" descr="rules_b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7320"/>
            <a:ext cx="5577840" cy="350118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502920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1389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0F766E"/>
                </a:solidFill>
                <a:latin typeface="Arial"/>
              </a:defRPr>
            </a:pPr>
            <a:r>
              <a:t>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394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19" b="0">
                <a:solidFill>
                  <a:srgbClr val="5B6470"/>
                </a:solidFill>
                <a:latin typeface="Arial"/>
              </a:defRPr>
            </a:pPr>
            <a:r>
              <a:t>Tỷ lệ đội hình chứa toàn bộ vế trái + phải.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02920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51389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0F766E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394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19" b="0">
                <a:solidFill>
                  <a:srgbClr val="5B6470"/>
                </a:solidFill>
                <a:latin typeface="Arial"/>
              </a:defRPr>
            </a:pPr>
            <a:r>
              <a:t>Xác suất có vế phải khi đã có vế trái.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502920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51389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0F766E"/>
                </a:solidFill>
                <a:latin typeface="Arial"/>
              </a:defRPr>
            </a:pPr>
            <a:r>
              <a:t>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5394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19" b="0">
                <a:solidFill>
                  <a:srgbClr val="5B6470"/>
                </a:solidFill>
                <a:latin typeface="Arial"/>
              </a:defRPr>
            </a:pPr>
            <a:r>
              <a:t>&gt; 1: xuất hiện cùng nhau nhiều hơn kỳ vọng độc lập.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09 ·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Meta Agent rất rõ theo từng bản đồ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Tỷ lệ đội hình có Agent; các map nhỏ như Breeze/Fracture cần đọc thận trọng.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8" name="Picture 7" descr="pic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92840" cy="4176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65099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4655"/>
                </a:solidFill>
                <a:latin typeface="Arial"/>
              </a:defRPr>
            </a:pPr>
            <a:r>
              <a:t>Đọc nhanh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5623560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111827"/>
                </a:solidFill>
                <a:latin typeface="Arial"/>
              </a:defRPr>
            </a:pPr>
            <a:r>
              <a:t>Ascent: Sova 96% · Jett 79%     |     Icebox: Sova 91% · Jett 91% · Sage 85% · Viper 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25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Cấu trúc này là đầu vào cho luật kết hợp, không phải bằng chứng hiệu quả.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10 · HIỆU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Cùng map, khác một Agent: kết quả có khác?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Hai đội hình Icebox phổ biến nhất chỉ khác Reyna/Killjoy.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8" name="Picture 7" descr="icebox_w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035040" cy="274256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57276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572768"/>
            <a:ext cx="54864" cy="914400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1" y="1682495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FF4655"/>
                </a:solidFill>
                <a:latin typeface="Arial"/>
              </a:defRPr>
            </a:pPr>
            <a:r>
              <a:t>55.9%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1" y="2121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Killjoy  ·  q = 0,024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57276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572768"/>
            <a:ext cx="54864" cy="914400"/>
          </a:xfrm>
          <a:prstGeom prst="rect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682495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5B6470"/>
                </a:solidFill>
                <a:latin typeface="Arial"/>
              </a:defRPr>
            </a:pPr>
            <a:r>
              <a:t>46.5%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121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Reyna  ·  q = 0,510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7249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5B6470"/>
                </a:solidFill>
                <a:latin typeface="Arial"/>
              </a:defRPr>
            </a:pPr>
            <a:r>
              <a:t>Chênh lệch quan sát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971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100" b="1">
                <a:solidFill>
                  <a:srgbClr val="111827"/>
                </a:solidFill>
                <a:latin typeface="Arial"/>
              </a:defRPr>
            </a:pPr>
            <a:r>
              <a:t>+9,4 điểm phần trăm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45643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B6470"/>
                </a:solidFill>
                <a:latin typeface="Arial"/>
              </a:defRPr>
            </a:pPr>
            <a:r>
              <a:t>n = 883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45643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B6470"/>
                </a:solidFill>
                <a:latin typeface="Arial"/>
              </a:defRPr>
            </a:pPr>
            <a:r>
              <a:t>n = 896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977639"/>
            <a:ext cx="4846320" cy="1417320"/>
          </a:xfrm>
          <a:prstGeom prst="roundRect">
            <a:avLst>
              <a:gd name="adj" fmla="val 8000"/>
            </a:avLst>
          </a:prstGeom>
          <a:solidFill>
            <a:srgbClr val="FFE8EA"/>
          </a:solidFill>
          <a:ln w="9525">
            <a:solidFill>
              <a:srgbClr val="FF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411480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BE1E2D"/>
                </a:solidFill>
                <a:latin typeface="Arial"/>
              </a:defRPr>
            </a:pPr>
            <a:r>
              <a:t>Cách diễn giải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4407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950" b="0">
                <a:solidFill>
                  <a:srgbClr val="111827"/>
                </a:solidFill>
                <a:latin typeface="Arial"/>
              </a:defRPr>
            </a:pPr>
            <a:r>
              <a:t>Chỉ đội hình Killjoy còn khác biệt sau FDR.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950" b="0">
                <a:solidFill>
                  <a:srgbClr val="111827"/>
                </a:solidFill>
                <a:latin typeface="Arial"/>
              </a:defRPr>
            </a:pPr>
            <a:r>
              <a:t>Đây là quan hệ quan sát, chưa kiểm soát chất lượng đội và patch.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950" b="0">
                <a:solidFill>
                  <a:srgbClr val="111827"/>
                </a:solidFill>
                <a:latin typeface="Arial"/>
              </a:defRPr>
            </a:pPr>
            <a:r>
              <a:t>Không thể kết luận “Killjoy mạnh hơn Reyna”.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10912"/>
            <a:ext cx="5989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3892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0F766E"/>
                </a:solidFill>
                <a:latin typeface="Arial"/>
              </a:defRPr>
            </a:pPr>
            <a:r>
              <a:t>Khoảng tin cậy 95% (Wilson)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132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11827"/>
                </a:solidFill>
                <a:latin typeface="Arial"/>
              </a:defRPr>
            </a:pPr>
            <a:r>
              <a:t>Killjoy  52.7%–59.2%     ·     Reyna  43.3%–49.8%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053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5B6470"/>
                </a:solidFill>
                <a:latin typeface="Arial"/>
              </a:defRPr>
            </a:pPr>
            <a:r>
              <a:t>Cùng 4 Agent: Jett–Sage–Sova–Viper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11 · KIỂM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Đa số khác biệt biến mất sau FDR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So sánh từng đội hình với phần còn lại của cùng map, rồi hiệu chỉnh Benjamini–Hochberg.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54864" cy="1078992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9105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111827"/>
                </a:solidFill>
                <a:latin typeface="Arial"/>
              </a:defRPr>
            </a:pPr>
            <a:r>
              <a:t>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2996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đội hình được kiểm định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481328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481328"/>
            <a:ext cx="54864" cy="10789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59105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D97706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2996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có p &lt; 0,05 (chưa hiệu chỉnh)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3" y="1481328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3" y="1481328"/>
            <a:ext cx="54864" cy="1078992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5" y="159105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FF465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5" y="202996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còn q &lt; 0,05 sau BH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0536" y="1481328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0536" y="1481328"/>
            <a:ext cx="54864" cy="10789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1591056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0F766E"/>
                </a:solidFill>
                <a:latin typeface="Arial"/>
              </a:defRPr>
            </a:pPr>
            <a:r>
              <a:t>17/580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02996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5B6470"/>
                </a:solidFill>
                <a:latin typeface="Arial"/>
              </a:defRPr>
            </a:pPr>
            <a:r>
              <a:t>luật còn q &lt; 0,05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999232"/>
          <a:ext cx="10698480" cy="1417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6035040"/>
                <a:gridCol w="914400"/>
                <a:gridCol w="1371600"/>
                <a:gridCol w="1188720"/>
              </a:tblGrid>
              <a:tr h="35433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Map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Đội hình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Win rate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 (BH)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Icebox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jett + killjoy + sage + sova + viper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883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55.9%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0.024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Ascent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jett + killjoy + omen + sage + sova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285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60.7%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0.045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Ascent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cypher + jett + omen + sage + sova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61.7%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0.045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FF4655"/>
                </a:solidFill>
                <a:latin typeface="Arial"/>
              </a:defRPr>
            </a:pPr>
            <a:r>
              <a:t>Ba đội hình còn khác biệt sau hiệu chỉnh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5B6470"/>
                </a:solidFill>
                <a:latin typeface="Arial"/>
              </a:defRPr>
            </a:pPr>
            <a:r>
              <a:t>Các luật có vế trái trùng nhau rất nhiều, nên 17/580 không phải 17 phát hiện độc lập. Kết quả vẫn là khám phá, chưa có hold-out theo thời gian.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806440"/>
            <a:ext cx="11064240" cy="36576"/>
          </a:xfrm>
          <a:prstGeom prst="rect">
            <a:avLst/>
          </a:prstGeom>
          <a:solidFill>
            <a:srgbClr val="DB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11827"/>
                </a:solidFill>
                <a:latin typeface="Arial"/>
              </a:defRPr>
            </a:pPr>
            <a:r>
              <a:t>Đồng xuất hiện  ≠  hiệu quả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12 ·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Trả lời bốn câu hỏi nghiên cứu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Kết quả có ích để mô tả dữ liệu, nhưng cần đọc cùng giới hạn.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1106424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5669280"/>
                <a:gridCol w="2468880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Câu hỏi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Trả lời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Bằng chứng</a:t>
                      </a:r>
                    </a:p>
                  </a:txBody>
                  <a:tcPr marL="73152" marR="73152" marT="36576" marB="36576" anchor="ctr"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Nhóm người chơi?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3 nhóm: mở giao tranh, chết nhiều, ít chết/hiệu quả.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k=3; silhouette 0,278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Agent đi cùng nhau?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Meta rõ theo map, ví dụ Icebox Viper–Sage–Sova.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580 luật; heatmap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Tổ hợp phổ biến thắng nhiều?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Không có bằng chứng mạnh; đa số không bền sau FDR.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3/473 đội hình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Khác theo map/patch?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Có; tỷ lệ chọn Agent thay đổi theo map và patch.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Bảng pick rate</a:t>
                      </a:r>
                    </a:p>
                  </a:txBody>
                  <a:tcPr marL="73152" marR="73152" marT="36576" marB="36576" anchor="ctr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7091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846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94A3B8"/>
                </a:solidFill>
                <a:latin typeface="Arial"/>
              </a:defRPr>
            </a:pPr>
            <a:r>
              <a:t>Thông điệp chính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10235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FFFFFF"/>
                </a:solidFill>
                <a:latin typeface="Arial"/>
              </a:defRPr>
            </a:pPr>
            <a:r>
              <a:t>Meta Agent rất rõ, nhưng meta không đồng nghĩa với hiệu quả.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5B6470"/>
                </a:solidFill>
                <a:latin typeface="Arial"/>
              </a:defRPr>
            </a:pPr>
            <a:r>
              <a:t>Cần kiểm định trên hold-out và kiểm soát chất lượng đội trước khi kết luận nhân quả.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FF4655"/>
                </a:solidFill>
                <a:latin typeface="Arial"/>
              </a:defRPr>
            </a:pPr>
            <a:r>
              <a:t>13 · GIỚI HẠN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5778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rial"/>
              </a:defRPr>
            </a:pPr>
            <a:r>
              <a:t>Giới hạn và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86868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>
                <a:solidFill>
                  <a:srgbClr val="5B6470"/>
                </a:solidFill>
                <a:latin typeface="Arial"/>
              </a:defRPr>
            </a:pPr>
            <a:r>
              <a:t>Một kết quả tốt là kết quả nói rõ mình không thể kết luận điều gì.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Valorant Data Mining  ·  Đồ án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5B647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53492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4655"/>
                </a:solidFill>
                <a:latin typeface="Arial"/>
              </a:defRPr>
            </a:pPr>
            <a:r>
              <a:t>Giới hạn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48920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FF4655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Dữ liệu chỉ đến 01/2022; meta hiện tại đã khác.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FF4655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KAST thiếu 97,9%; không có vũ khí, tọa độ, kill log.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FF4655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126 người chơi bị loại vì coverage &lt;80%.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FF4655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Breeze/Fracture ít trận; luật kém ổn định.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FF4655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FDR đã làm, nhưng chưa có hold-out theo thời gian.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81328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9525">
            <a:solidFill>
              <a:srgbClr val="BE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276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F766E"/>
                </a:solidFill>
                <a:latin typeface="Arial"/>
              </a:defRPr>
            </a:pPr>
            <a:r>
              <a:t>Hướng phát triển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993392"/>
            <a:ext cx="48920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0F766E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Hold-out theo thời gian cho các đội hình win rate cao.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0F766E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Mô hình thắng/thua có kiểm soát map, patch, đội.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0F766E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Phân cụm riêng trong từng nhóm vai trò Agent.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0F766E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PrefixSpan cho chuỗi round/mua sắm.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080" b="1">
                <a:solidFill>
                  <a:srgbClr val="0F766E"/>
                </a:solidFill>
                <a:latin typeface="Arial"/>
              </a:rPr>
              <a:t>•  </a:t>
            </a:r>
            <a:r>
              <a:rPr sz="1080">
                <a:solidFill>
                  <a:srgbClr val="111827"/>
                </a:solidFill>
                <a:latin typeface="Arial"/>
              </a:rPr>
              <a:t>Dashboard so sánh luật giữa map và patch.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FFE8EA"/>
          </a:solidFill>
          <a:ln w="9525">
            <a:solidFill>
              <a:srgbClr val="FF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8289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BE1E2D"/>
                </a:solidFill>
                <a:latin typeface="Arial"/>
              </a:defRPr>
            </a:pPr>
            <a:r>
              <a:t>HỆ QUẢ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5546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11827"/>
                </a:solidFill>
                <a:latin typeface="Arial"/>
              </a:defRPr>
            </a:pPr>
            <a:r>
              <a:t>Kết quả chỉ nên dùng để gợi ý giả thuyết, không dùng để xếp hạng người chơi hay tuyển chọn.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11827"/>
                </a:solidFill>
                <a:latin typeface="Arial"/>
              </a:defRPr>
            </a:pPr>
            <a:r>
              <a:t>Điểm cần nhớ: đây là phân tích khám phá có kiểm định, không phải dự báo nhân quả.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FF4655"/>
                </a:solidFill>
                <a:latin typeface="Arial"/>
              </a:defRPr>
            </a:pPr>
            <a:r>
              <a:t>CẢM 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4400" b="1">
                <a:solidFill>
                  <a:srgbClr val="FFFFFF"/>
                </a:solidFill>
                <a:latin typeface="Arial"/>
              </a:defRPr>
            </a:pPr>
            <a:r>
              <a:t>Xin 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6974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100" b="0">
                <a:solidFill>
                  <a:srgbClr val="BEC4CD"/>
                </a:solidFill>
                <a:latin typeface="Arial"/>
              </a:defRPr>
            </a:pPr>
            <a:r>
              <a:t>Câu hỏi &amp; thảo luận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429000"/>
            <a:ext cx="2286000" cy="41148"/>
          </a:xfrm>
          <a:prstGeom prst="rect">
            <a:avLst/>
          </a:prstGeom>
          <a:solidFill>
            <a:srgbClr val="FF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840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94A3B8"/>
                </a:solidFill>
                <a:latin typeface="Arial"/>
              </a:defRPr>
            </a:pPr>
            <a:r>
              <a:t>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813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FFFFFF"/>
                </a:solidFill>
                <a:latin typeface="Consolas"/>
              </a:defRPr>
            </a:pPr>
            <a:r>
              <a:t>github.com/DucZaki/Data-Mining-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2976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94A3B8"/>
                </a:solidFill>
                <a:latin typeface="Arial"/>
              </a:defRPr>
            </a:pPr>
            <a:r>
              <a:t>Tái lập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2702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FFFFFF"/>
                </a:solidFill>
                <a:latin typeface="Consolas"/>
              </a:defRPr>
            </a:pPr>
            <a:r>
              <a:t>make 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7548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94A3B8"/>
                </a:solidFill>
                <a:latin typeface="Arial"/>
              </a:defRPr>
            </a:pPr>
            <a:r>
              <a:t>Kết quả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72744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BEC4CD"/>
                </a:solidFill>
                <a:latin typeface="Arial"/>
              </a:defRPr>
            </a:pPr>
            <a:r>
              <a:t>14.005 ván · 2.599 người chơi · 580 luật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88494"/>
                </a:solidFill>
                <a:latin typeface="Arial"/>
              </a:defRPr>
            </a:pPr>
            <a:r>
              <a:t>Đồ án khai phá dữ liệu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cụm người chơi Valorant và khai phá tổ hợp Agent</dc:title>
  <dc:subject>Đồ án khai phá dữ liệu</dc:subject>
  <dc:creator/>
  <cp:keywords/>
  <dc:description/>
  <cp:lastModifiedBy/>
  <cp:revision>1</cp:revision>
  <dcterms:created xsi:type="dcterms:W3CDTF">2026-10-23T00:00:00Z</dcterms:created>
  <dcterms:modified xsi:type="dcterms:W3CDTF">2026-10-23T00:00:00Z</dcterms:modified>
  <cp:category/>
</cp:coreProperties>
</file>